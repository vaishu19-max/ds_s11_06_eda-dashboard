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904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7" autoAdjust="0"/>
    <p:restoredTop sz="94666"/>
  </p:normalViewPr>
  <p:slideViewPr>
    <p:cSldViewPr snapToGrid="0">
      <p:cViewPr varScale="1">
        <p:scale>
          <a:sx n="115" d="100"/>
          <a:sy n="115" d="100"/>
        </p:scale>
        <p:origin x="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7FDD-3988-14EB-CD01-57E91E20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271FA-2C3E-9A61-D1F7-B0B364B6F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027DE-8930-DEEB-5A85-9A7CF04A1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A9B2-270E-D919-E651-9E40D4F82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46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0011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september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798"/>
              </p:ext>
            </p:extLst>
          </p:nvPr>
        </p:nvGraphicFramePr>
        <p:xfrm>
          <a:off x="8256277" y="4741590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Vaishnavi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Varsitha – 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Shaik Aliza - 2420030120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5210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19/09/26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75922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 b="1" dirty="0"/>
              <a:t>Interactive Exploratory Data Analysis Dashboard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B08D5D-3B1D-3880-283D-28907ABB8BF0}"/>
              </a:ext>
            </a:extLst>
          </p:cNvPr>
          <p:cNvSpPr txBox="1"/>
          <p:nvPr/>
        </p:nvSpPr>
        <p:spPr>
          <a:xfrm>
            <a:off x="1026694" y="1294763"/>
            <a:ext cx="10138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Performing Exploratory Data Analysis manually requires users to write and execute multiple programs for different tasks.</a:t>
            </a:r>
          </a:p>
          <a:p>
            <a:r>
              <a:rPr lang="en-US" sz="2400" b="1" dirty="0"/>
              <a:t> Existing Problems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Manual data loading and processing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Repetitive programming for every dataset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Difficulty identifying missing values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Difficulty detecting duplicate records and outliers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Separate code required for different visualizations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Requires basic programming knowledge 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Time-consuming for beginners and non-programmers </a:t>
            </a:r>
          </a:p>
          <a:p>
            <a:r>
              <a:rPr lang="en-US" sz="2400" b="1" dirty="0"/>
              <a:t>Proposed Solution </a:t>
            </a:r>
          </a:p>
          <a:p>
            <a:r>
              <a:rPr lang="en-US" sz="2400" dirty="0"/>
              <a:t>Develop an Interactive EDA Dashboard that allows users to upload a CSV file and automatically performs dataset analysis, statistical analysis, and visualization through a single web-based interface.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2321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05E4FA-22E7-56BA-51F7-AECA21EC67C7}"/>
              </a:ext>
            </a:extLst>
          </p:cNvPr>
          <p:cNvSpPr txBox="1"/>
          <p:nvPr/>
        </p:nvSpPr>
        <p:spPr>
          <a:xfrm>
            <a:off x="552691" y="856357"/>
            <a:ext cx="1066799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main objectives of the project are: </a:t>
            </a:r>
          </a:p>
          <a:p>
            <a:pPr marL="342900" indent="-342900">
              <a:buAutoNum type="arabicPeriod"/>
            </a:pPr>
            <a:r>
              <a:rPr lang="en-US" sz="2400" dirty="0"/>
              <a:t>To develop an interactive web-based EDA dashboard. </a:t>
            </a:r>
          </a:p>
          <a:p>
            <a:r>
              <a:rPr lang="en-US" sz="2400" dirty="0"/>
              <a:t>2. To allow users to upload CSV datasets without writing code. </a:t>
            </a:r>
          </a:p>
          <a:p>
            <a:r>
              <a:rPr lang="en-US" sz="2400" dirty="0"/>
              <a:t>3. To automatically identify:</a:t>
            </a:r>
          </a:p>
          <a:p>
            <a:r>
              <a:rPr lang="en-US" sz="2400" dirty="0"/>
              <a:t> - Number of rows and columns</a:t>
            </a:r>
          </a:p>
          <a:p>
            <a:r>
              <a:rPr lang="en-US" sz="2400" dirty="0"/>
              <a:t> - Column names </a:t>
            </a:r>
          </a:p>
          <a:p>
            <a:r>
              <a:rPr lang="en-US" sz="2400" dirty="0"/>
              <a:t>  -Data types </a:t>
            </a:r>
          </a:p>
          <a:p>
            <a:r>
              <a:rPr lang="en-US" sz="2400" dirty="0"/>
              <a:t>  - Missing values </a:t>
            </a:r>
          </a:p>
          <a:p>
            <a:r>
              <a:rPr lang="en-US" sz="2400" dirty="0"/>
              <a:t>   - Duplicate records </a:t>
            </a:r>
          </a:p>
          <a:p>
            <a:r>
              <a:rPr lang="en-US" sz="2400" dirty="0"/>
              <a:t>4. To generate descriptive statistics automatically. </a:t>
            </a:r>
          </a:p>
          <a:p>
            <a:r>
              <a:rPr lang="en-US" sz="2400" dirty="0"/>
              <a:t>5. To identify numerical and categorical columns.</a:t>
            </a:r>
          </a:p>
          <a:p>
            <a:r>
              <a:rPr lang="en-US" sz="2400" dirty="0"/>
              <a:t> 6. To provide suitable visualizations based on the dataset.</a:t>
            </a:r>
          </a:p>
          <a:p>
            <a:r>
              <a:rPr lang="en-US" sz="2400" dirty="0"/>
              <a:t> 7. To generate: - Distribution plots - Box plots - Correlation heatmaps - Pair plots </a:t>
            </a:r>
          </a:p>
          <a:p>
            <a:r>
              <a:rPr lang="en-US" sz="2400" dirty="0"/>
              <a:t>8. To make initial data analysis faster and more accessible. </a:t>
            </a:r>
          </a:p>
          <a:p>
            <a:r>
              <a:rPr lang="en-US" sz="2400" dirty="0"/>
              <a:t>9. To provide a foundation for further data preprocessing, feature selection,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6359077"/>
              </p:ext>
            </p:extLst>
          </p:nvPr>
        </p:nvGraphicFramePr>
        <p:xfrm>
          <a:off x="245117" y="1024075"/>
          <a:ext cx="11701764" cy="493074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1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250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72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Putatunda</a:t>
                      </a:r>
                      <a:r>
                        <a:rPr lang="en-IN" sz="1400" dirty="0"/>
                        <a:t> et al., 2019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SmartEDA</a:t>
                      </a:r>
                      <a:r>
                        <a:rPr lang="en-IN" sz="1400" dirty="0"/>
                        <a:t>: An R Package for Automated Exploratory Data Analysis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Automated EDA using descriptive statistics and visualizations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Reduces manual effort in initial data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Focused on R; further automation and broader functionality can be explored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7863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Wongsuphasawat</a:t>
                      </a:r>
                      <a:r>
                        <a:rPr lang="en-IN" sz="1400" dirty="0"/>
                        <a:t> et al., 2016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Voyager: Exploratory Analysis via Faceted Browsing of Visualization Recommendations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Automatically recommends visualizations using statistical and perceptual measures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Helps users explore unfamiliar datasets more efficiently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Balancing automatic recommendations with targeted analysis remains a challenge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1301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Wongsuphasawat</a:t>
                      </a:r>
                      <a:r>
                        <a:rPr lang="en-IN" sz="1400" dirty="0"/>
                        <a:t> et al., 2017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Voyager 2: Augmenting Visual Analysis with Partial View Specifications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Partial visualization specifications and recommended charts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Supports interactive exploratory visual analysis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More advanced recommendation and personalized exploration can be developed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1301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Kandel et al., 2011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Research Directions in Data Wrangling: Visualizations and Transformations for Usable and Expressive Data Management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Visual approaches for data transformation and cleaning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Shows importance of making data preparation more accessible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More automated and intelligent data-cleaning methods are needed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6043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68D9-2C08-363B-537C-5C4D95C6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FDE45C-527A-8C8A-13BE-E106639914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0866477"/>
              </p:ext>
            </p:extLst>
          </p:nvPr>
        </p:nvGraphicFramePr>
        <p:xfrm>
          <a:off x="330403" y="990701"/>
          <a:ext cx="11701764" cy="49974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1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250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72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Kandel et al., 2011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Wrangler: Interactive Visual Specification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Interactive data cleaning and transformation with automatically suggested operations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Reduces effort required for data preparation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Primarily focuses on wrangling rather than complete EDA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7863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Wexler et al., 2017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Facets: An Open Source Visualization Tool for Machine Learning Training Data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Interactive visualization of feature distributions and individual observations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Helps identify missing values, distribution issues and unusual patterns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Primarily designed around ML datasets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1301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Liu et al., 2022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Deconstructing Categorization in Visualization Recommendation: A Taxonomy and Comparative Study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Taxonomy and evaluation of visualization recommendation strategies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Studies which recommendations are useful during exploration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More adaptive and personalized recommendation systems are suggested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1301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Keim et al., 2010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Visual Analytics: Definition, Process, and Challenges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Integration of interactive visualization with analytical methods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the importance of combining human interaction with automated analysis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Scalability and integration of multiple analytical techniques remain challenges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6043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232DE9E-E735-96FB-8BAB-EA1E32AA425B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F85F39-87C8-DE20-15AE-794AA029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7A4B4-4952-7C5C-66BE-EEB40FD0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3A69D9-5253-5FA8-0696-2FD5BF82E168}"/>
              </a:ext>
            </a:extLst>
          </p:cNvPr>
          <p:cNvSpPr txBox="1"/>
          <p:nvPr/>
        </p:nvSpPr>
        <p:spPr>
          <a:xfrm>
            <a:off x="323387" y="1349298"/>
            <a:ext cx="93335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Gap Identification</a:t>
            </a:r>
          </a:p>
          <a:p>
            <a:r>
              <a:rPr lang="en-IN" dirty="0"/>
              <a:t>Based on the abstract, the identified gaps are:</a:t>
            </a:r>
          </a:p>
          <a:p>
            <a:r>
              <a:rPr lang="en-IN" b="1" dirty="0"/>
              <a:t>Existing EDA Process</a:t>
            </a:r>
          </a:p>
          <a:p>
            <a:pPr lvl="0"/>
            <a:r>
              <a:rPr lang="en-IN" dirty="0"/>
              <a:t>Requires programming knowledge. </a:t>
            </a:r>
          </a:p>
          <a:p>
            <a:pPr lvl="0"/>
            <a:r>
              <a:rPr lang="en-IN" dirty="0"/>
              <a:t>Users often need separate code for each analysis task. </a:t>
            </a:r>
          </a:p>
          <a:p>
            <a:pPr lvl="0"/>
            <a:r>
              <a:rPr lang="en-IN" dirty="0"/>
              <a:t>Data loading, statistical analysis and visualization are generally handled separately. </a:t>
            </a:r>
          </a:p>
          <a:p>
            <a:pPr lvl="0"/>
            <a:r>
              <a:rPr lang="en-IN" dirty="0"/>
              <a:t>Manual analysis can become repetitive and time-consuming. </a:t>
            </a:r>
          </a:p>
          <a:p>
            <a:r>
              <a:rPr lang="en-IN" b="1" dirty="0"/>
              <a:t>Identified Gap</a:t>
            </a:r>
          </a:p>
          <a:p>
            <a:r>
              <a:rPr lang="en-IN" dirty="0"/>
              <a:t>There is a need for a </a:t>
            </a:r>
            <a:r>
              <a:rPr lang="en-IN" b="1" dirty="0"/>
              <a:t>single, interactive platform that integrates dataset processing, statistical analysis and multiple visualizations</a:t>
            </a:r>
            <a:r>
              <a:rPr lang="en-IN" dirty="0"/>
              <a:t> without requiring users to write separate programs.</a:t>
            </a:r>
          </a:p>
          <a:p>
            <a:r>
              <a:rPr lang="en-IN" b="1" dirty="0"/>
              <a:t>Proposed Gap Solution</a:t>
            </a:r>
          </a:p>
          <a:p>
            <a:r>
              <a:rPr lang="en-IN" dirty="0"/>
              <a:t>The project addresses this by combining:</a:t>
            </a:r>
          </a:p>
          <a:p>
            <a:r>
              <a:rPr lang="en-IN" b="1" dirty="0"/>
              <a:t>CSV Upload → Data Processing → Statistical Analysis → Visualization → EDA Insights</a:t>
            </a:r>
            <a:endParaRPr lang="en-IN" dirty="0"/>
          </a:p>
          <a:p>
            <a:r>
              <a:rPr lang="en-IN" dirty="0"/>
              <a:t>The abstract specifically describes the goal of reducing repetitive EDA effort and providing multiple analysis functions through one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5DA7A9-46A1-7C78-ECA5-60C2823B0709}"/>
              </a:ext>
            </a:extLst>
          </p:cNvPr>
          <p:cNvSpPr txBox="1"/>
          <p:nvPr/>
        </p:nvSpPr>
        <p:spPr>
          <a:xfrm>
            <a:off x="635620" y="1360449"/>
            <a:ext cx="1049329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Automated EDA</a:t>
            </a:r>
          </a:p>
          <a:p>
            <a:r>
              <a:rPr lang="en-IN" dirty="0"/>
              <a:t>The system automatically performs common exploratory analysis after CSV upload.</a:t>
            </a:r>
          </a:p>
          <a:p>
            <a:r>
              <a:rPr lang="en-IN" b="1" dirty="0"/>
              <a:t>2. Code-Free Data Exploration</a:t>
            </a:r>
          </a:p>
          <a:p>
            <a:r>
              <a:rPr lang="en-IN" dirty="0"/>
              <a:t>Users can perform basic EDA without writing separate Python programs.</a:t>
            </a:r>
          </a:p>
          <a:p>
            <a:r>
              <a:rPr lang="en-IN" b="1" dirty="0"/>
              <a:t>3. Integrated Analysis Platform</a:t>
            </a:r>
          </a:p>
          <a:p>
            <a:r>
              <a:rPr lang="en-IN" dirty="0"/>
              <a:t>Multiple EDA operations are provided through a </a:t>
            </a:r>
            <a:r>
              <a:rPr lang="en-IN" b="1" dirty="0"/>
              <a:t>single dashboard</a:t>
            </a:r>
            <a:r>
              <a:rPr lang="en-IN" dirty="0"/>
              <a:t>.</a:t>
            </a:r>
          </a:p>
          <a:p>
            <a:r>
              <a:rPr lang="en-IN" b="1" dirty="0"/>
              <a:t>4. Automatic Visualization</a:t>
            </a:r>
          </a:p>
          <a:p>
            <a:r>
              <a:rPr lang="en-IN" dirty="0"/>
              <a:t>The system generates appropriate visualizations such as:</a:t>
            </a:r>
          </a:p>
          <a:p>
            <a:pPr lvl="0"/>
            <a:r>
              <a:rPr lang="en-IN" dirty="0"/>
              <a:t>Distribution plots </a:t>
            </a:r>
          </a:p>
          <a:p>
            <a:pPr lvl="0"/>
            <a:r>
              <a:rPr lang="en-IN" dirty="0"/>
              <a:t>Box plots </a:t>
            </a:r>
          </a:p>
          <a:p>
            <a:pPr lvl="0"/>
            <a:r>
              <a:rPr lang="en-IN" dirty="0"/>
              <a:t>Correlation heatmaps </a:t>
            </a:r>
          </a:p>
          <a:p>
            <a:pPr lvl="0"/>
            <a:r>
              <a:rPr lang="en-IN" dirty="0"/>
              <a:t>Pair plots </a:t>
            </a:r>
          </a:p>
          <a:p>
            <a:pPr lvl="0"/>
            <a:r>
              <a:rPr lang="en-IN" dirty="0"/>
              <a:t>Categorical plots </a:t>
            </a:r>
          </a:p>
          <a:p>
            <a:r>
              <a:rPr lang="en-IN" b="1" dirty="0"/>
              <a:t>5. Interactive Dashboard</a:t>
            </a:r>
          </a:p>
          <a:p>
            <a:r>
              <a:rPr lang="en-IN" dirty="0"/>
              <a:t>Users can upload datasets, select variables and view analysis through an interactive </a:t>
            </a:r>
            <a:r>
              <a:rPr lang="en-IN" dirty="0" err="1"/>
              <a:t>Streamlit</a:t>
            </a:r>
            <a:r>
              <a:rPr lang="en-IN" dirty="0"/>
              <a:t> interface. </a:t>
            </a:r>
          </a:p>
          <a:p>
            <a:r>
              <a:rPr lang="en-IN" b="1" dirty="0"/>
              <a:t>6. Future Intelligent Insights</a:t>
            </a:r>
          </a:p>
          <a:p>
            <a:r>
              <a:rPr lang="en-IN" dirty="0"/>
              <a:t>The system can later incorporate AI/ML techniques to generate </a:t>
            </a:r>
            <a:r>
              <a:rPr lang="en-IN" b="1" dirty="0"/>
              <a:t>automatic insights and recommendations</a:t>
            </a:r>
            <a:r>
              <a:rPr lang="en-IN" dirty="0"/>
              <a:t> from uploaded datasets.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149614"/>
            <a:ext cx="7234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888722" y="812649"/>
            <a:ext cx="339324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Architecture Flow</a:t>
            </a:r>
          </a:p>
          <a:p>
            <a:r>
              <a:rPr lang="en-IN" sz="1600" b="1" dirty="0"/>
              <a:t>User</a:t>
            </a:r>
            <a:endParaRPr lang="en-IN" sz="1600" dirty="0"/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CSV File Upload</a:t>
            </a:r>
            <a:endParaRPr lang="en-IN" sz="1600" dirty="0"/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1. Data Ingestion</a:t>
            </a:r>
          </a:p>
          <a:p>
            <a:pPr lvl="0"/>
            <a:r>
              <a:rPr lang="en-IN" sz="1600" dirty="0"/>
              <a:t>Read CSV </a:t>
            </a:r>
          </a:p>
          <a:p>
            <a:pPr lvl="0"/>
            <a:r>
              <a:rPr lang="en-IN" sz="1600" dirty="0"/>
              <a:t>Validate data </a:t>
            </a:r>
          </a:p>
          <a:p>
            <a:pPr lvl="0"/>
            <a:r>
              <a:rPr lang="en-IN" sz="1600" dirty="0"/>
              <a:t>Detect shape, columns and data types </a:t>
            </a:r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2. Pre-processing</a:t>
            </a:r>
          </a:p>
          <a:p>
            <a:pPr lvl="0"/>
            <a:r>
              <a:rPr lang="en-IN" sz="1600" dirty="0"/>
              <a:t>Handle missing values </a:t>
            </a:r>
          </a:p>
          <a:p>
            <a:pPr lvl="0"/>
            <a:r>
              <a:rPr lang="en-IN" sz="1600" dirty="0"/>
              <a:t>Detect duplicates </a:t>
            </a:r>
          </a:p>
          <a:p>
            <a:pPr lvl="0"/>
            <a:r>
              <a:rPr lang="en-IN" sz="1600" dirty="0"/>
              <a:t>Data type conversion </a:t>
            </a:r>
          </a:p>
          <a:p>
            <a:pPr lvl="0"/>
            <a:r>
              <a:rPr lang="en-IN" sz="1600" dirty="0"/>
              <a:t>Outlier detection </a:t>
            </a:r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3. Exploratory Data Analysis</a:t>
            </a:r>
          </a:p>
          <a:p>
            <a:pPr lvl="0"/>
            <a:r>
              <a:rPr lang="en-IN" sz="1600" dirty="0"/>
              <a:t>Descriptive statistics </a:t>
            </a:r>
          </a:p>
          <a:p>
            <a:pPr lvl="0"/>
            <a:r>
              <a:rPr lang="en-IN" sz="1600" dirty="0"/>
              <a:t>Missing-value analysis </a:t>
            </a:r>
          </a:p>
          <a:p>
            <a:pPr lvl="0"/>
            <a:r>
              <a:rPr lang="en-IN" sz="1600" dirty="0"/>
              <a:t>Unique-value analysis </a:t>
            </a:r>
          </a:p>
          <a:p>
            <a:pPr lvl="0"/>
            <a:r>
              <a:rPr lang="en-IN" sz="1600" dirty="0"/>
              <a:t>Correlation analysis 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A45076-E816-12E0-5735-F0BA65EDEBF7}"/>
              </a:ext>
            </a:extLst>
          </p:cNvPr>
          <p:cNvSpPr txBox="1"/>
          <p:nvPr/>
        </p:nvSpPr>
        <p:spPr>
          <a:xfrm>
            <a:off x="6910039" y="812649"/>
            <a:ext cx="352378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4. Visualizations</a:t>
            </a:r>
          </a:p>
          <a:p>
            <a:pPr lvl="0"/>
            <a:r>
              <a:rPr lang="en-IN" sz="1600" dirty="0"/>
              <a:t>Distribution plots </a:t>
            </a:r>
          </a:p>
          <a:p>
            <a:pPr lvl="0"/>
            <a:r>
              <a:rPr lang="en-IN" sz="1600" dirty="0"/>
              <a:t>Box plots </a:t>
            </a:r>
          </a:p>
          <a:p>
            <a:pPr lvl="0"/>
            <a:r>
              <a:rPr lang="en-IN" sz="1600" dirty="0"/>
              <a:t>Correlation heatmap </a:t>
            </a:r>
          </a:p>
          <a:p>
            <a:pPr lvl="0"/>
            <a:r>
              <a:rPr lang="en-IN" sz="1600" dirty="0"/>
              <a:t>Pair plots </a:t>
            </a:r>
          </a:p>
          <a:p>
            <a:pPr lvl="0"/>
            <a:r>
              <a:rPr lang="en-IN" sz="1600" dirty="0"/>
              <a:t>Categorical plots </a:t>
            </a:r>
          </a:p>
          <a:p>
            <a:pPr lvl="0"/>
            <a:r>
              <a:rPr lang="en-IN" sz="1600" dirty="0"/>
              <a:t>Data preview</a:t>
            </a:r>
          </a:p>
          <a:p>
            <a:r>
              <a:rPr lang="en-IN" sz="1600" b="1" dirty="0"/>
              <a:t>5. Outputs</a:t>
            </a:r>
          </a:p>
          <a:p>
            <a:pPr lvl="0"/>
            <a:r>
              <a:rPr lang="en-IN" sz="1600" dirty="0"/>
              <a:t>EDA report </a:t>
            </a:r>
          </a:p>
          <a:p>
            <a:pPr lvl="0"/>
            <a:r>
              <a:rPr lang="en-IN" sz="1600" dirty="0"/>
              <a:t>Summary &amp; insights </a:t>
            </a:r>
          </a:p>
          <a:p>
            <a:pPr lvl="0"/>
            <a:r>
              <a:rPr lang="en-IN" sz="1600" dirty="0"/>
              <a:t>Downloadable results </a:t>
            </a:r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6. Insights &amp; Recommendations</a:t>
            </a:r>
          </a:p>
          <a:p>
            <a:pPr lvl="0"/>
            <a:r>
              <a:rPr lang="en-IN" sz="1600" dirty="0"/>
              <a:t>Key insights </a:t>
            </a:r>
          </a:p>
          <a:p>
            <a:pPr lvl="0"/>
            <a:r>
              <a:rPr lang="en-IN" sz="1600" dirty="0"/>
              <a:t>Data-quality summary </a:t>
            </a:r>
          </a:p>
          <a:p>
            <a:pPr lvl="0"/>
            <a:r>
              <a:rPr lang="en-IN" sz="1600" dirty="0"/>
              <a:t>Outlier observations </a:t>
            </a:r>
          </a:p>
          <a:p>
            <a:pPr lvl="0"/>
            <a:r>
              <a:rPr lang="en-IN" sz="1600" dirty="0"/>
              <a:t>Column relationships </a:t>
            </a:r>
          </a:p>
          <a:p>
            <a:pPr lvl="0"/>
            <a:r>
              <a:rPr lang="en-IN" sz="1600" dirty="0"/>
              <a:t>Suggestions for analysis/</a:t>
            </a:r>
            <a:r>
              <a:rPr lang="en-IN" sz="1600" dirty="0" err="1"/>
              <a:t>modeling</a:t>
            </a:r>
            <a:r>
              <a:rPr lang="en-IN" sz="1600" dirty="0"/>
              <a:t> </a:t>
            </a:r>
          </a:p>
          <a:p>
            <a:r>
              <a:rPr lang="en-IN" sz="1600" dirty="0"/>
              <a:t>↓</a:t>
            </a:r>
          </a:p>
          <a:p>
            <a:r>
              <a:rPr lang="en-IN" sz="1600" b="1" dirty="0"/>
              <a:t>7. </a:t>
            </a:r>
            <a:r>
              <a:rPr lang="en-IN" sz="1600" b="1" dirty="0" err="1"/>
              <a:t>Streamlit</a:t>
            </a:r>
            <a:r>
              <a:rPr lang="en-IN" sz="1600" b="1" dirty="0"/>
              <a:t> Dashboard</a:t>
            </a:r>
          </a:p>
          <a:p>
            <a:r>
              <a:rPr lang="en-IN" sz="1600" dirty="0"/>
              <a:t>The architecture shown in the abstract follows these seven stages</a:t>
            </a:r>
          </a:p>
          <a:p>
            <a:pPr lvl="0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1000</Words>
  <Application>Microsoft Macintosh PowerPoint</Application>
  <PresentationFormat>Widescreen</PresentationFormat>
  <Paragraphs>198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Motukuri Vaishnavi .</cp:lastModifiedBy>
  <cp:revision>35</cp:revision>
  <dcterms:created xsi:type="dcterms:W3CDTF">2026-08-08T06:33:56Z</dcterms:created>
  <dcterms:modified xsi:type="dcterms:W3CDTF">2026-09-18T06:58:19Z</dcterms:modified>
</cp:coreProperties>
</file>